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sldSz cx="12192000" cy="6858000"/>
  <p:notesSz cx="6858000" cy="9144000"/>
  <p:embeddedFontLst>
    <p:embeddedFont>
      <p:font typeface="JetBrains Mono"/>
      <p:regular r:id="rId8"/>
    </p:embeddedFont>
    <p:embeddedFont>
      <p:font typeface="Plus Jakarta Sans"/>
      <p:bold r:id="rId9"/>
    </p:embeddedFont>
  </p:embeddedFont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59" d="100"/>
          <a:sy n="59" d="100"/>
        </p:scale>
        <p:origin x="940" y="5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font" Target="fonts/font1.fntdata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font" Target="fonts/font2.fntdata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10/21/2026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8.png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609600" y="5194634"/>
            <a:ext cx="609600" cy="38100"/>
          </a:xfrm>
          <a:prstGeom prst="rect">
            <a:avLst/>
          </a:prstGeom>
          <a:solidFill>
            <a:srgbClr val="0284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09600" y="2126009"/>
            <a:ext cx="2943113" cy="169277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100" b="0" i="0" u="none" dirty="0">
                <a:solidFill>
                  <a:srgbClr val="38BDF8"/>
                </a:solidFill>
                <a:latin typeface="JetBrains Mono"/>
              </a:rPr>
              <a:t>DATA ANALYSIS &amp; BUSINESS FORECASTING REPORT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9600" y="2449859"/>
            <a:ext cx="9101137" cy="117916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4484"/>
              </a:lnSpc>
            </a:pPr>
            <a:r>
              <a:rPr sz="5000" b="1" i="0" u="none" dirty="0" err="1">
                <a:solidFill>
                  <a:srgbClr val="FFFFFF"/>
                </a:solidFill>
                <a:latin typeface="Plus Jakarta Sans"/>
              </a:rPr>
              <a:t>Analisis</a:t>
            </a:r>
            <a:r>
              <a:rPr sz="5000" b="1" i="0" u="none" dirty="0">
                <a:solidFill>
                  <a:srgbClr val="FFFFFF"/>
                </a:solidFill>
                <a:latin typeface="Plus Jakarta Sans"/>
              </a:rPr>
              <a:t> </a:t>
            </a:r>
            <a:r>
              <a:rPr sz="5000" b="1" i="0" u="none" dirty="0" err="1">
                <a:solidFill>
                  <a:srgbClr val="FFFFFF"/>
                </a:solidFill>
                <a:latin typeface="Plus Jakarta Sans"/>
              </a:rPr>
              <a:t>Spasial</a:t>
            </a:r>
            <a:r>
              <a:rPr sz="5000" b="1" i="0" u="none" dirty="0">
                <a:solidFill>
                  <a:srgbClr val="FFFFFF"/>
                </a:solidFill>
                <a:latin typeface="Plus Jakarta Sans"/>
              </a:rPr>
              <a:t> &amp; Strategi </a:t>
            </a:r>
            <a:r>
              <a:rPr sz="5000" b="1" i="0" u="none" dirty="0" err="1">
                <a:solidFill>
                  <a:srgbClr val="FFFFFF"/>
                </a:solidFill>
                <a:latin typeface="Plus Jakarta Sans"/>
              </a:rPr>
              <a:t>Keberlanjutan</a:t>
            </a:r>
            <a:r>
              <a:rPr sz="5000" b="1" i="0" u="none" dirty="0">
                <a:solidFill>
                  <a:srgbClr val="FFFFFF"/>
                </a:solidFill>
                <a:latin typeface="Plus Jakarta Sans"/>
              </a:rPr>
              <a:t> </a:t>
            </a:r>
            <a:r>
              <a:rPr sz="5000" b="1" i="0" u="none" dirty="0" err="1">
                <a:solidFill>
                  <a:srgbClr val="FFFFFF"/>
                </a:solidFill>
                <a:latin typeface="Plus Jakarta Sans"/>
              </a:rPr>
              <a:t>Faskes</a:t>
            </a:r>
            <a:r>
              <a:rPr sz="5000" b="1" i="0" u="none" dirty="0">
                <a:solidFill>
                  <a:srgbClr val="FFFFFF"/>
                </a:solidFill>
                <a:latin typeface="Plus Jakarta Sans"/>
              </a:rPr>
              <a:t> BPJS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9599" y="3779490"/>
            <a:ext cx="8577943" cy="58990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250"/>
              </a:lnSpc>
            </a:pPr>
            <a:r>
              <a:rPr sz="2000" b="0" i="0" u="none" dirty="0" err="1">
                <a:solidFill>
                  <a:srgbClr val="94A3B8"/>
                </a:solidFill>
                <a:latin typeface="Plus Jakarta Sans"/>
              </a:rPr>
              <a:t>Pemetaan</a:t>
            </a:r>
            <a:r>
              <a:rPr sz="2000" b="0" i="0" u="none" dirty="0">
                <a:solidFill>
                  <a:srgbClr val="94A3B8"/>
                </a:solidFill>
                <a:latin typeface="Plus Jakarta Sans"/>
              </a:rPr>
              <a:t> </a:t>
            </a:r>
            <a:r>
              <a:rPr sz="2000" b="0" i="0" u="none" dirty="0" err="1">
                <a:solidFill>
                  <a:srgbClr val="94A3B8"/>
                </a:solidFill>
                <a:latin typeface="Plus Jakarta Sans"/>
              </a:rPr>
              <a:t>geospasial</a:t>
            </a:r>
            <a:r>
              <a:rPr sz="2000" b="0" i="0" u="none" dirty="0">
                <a:solidFill>
                  <a:srgbClr val="94A3B8"/>
                </a:solidFill>
                <a:latin typeface="Plus Jakarta Sans"/>
              </a:rPr>
              <a:t>, </a:t>
            </a:r>
            <a:r>
              <a:rPr sz="2000" b="0" i="0" u="none" dirty="0" err="1">
                <a:solidFill>
                  <a:srgbClr val="94A3B8"/>
                </a:solidFill>
                <a:latin typeface="Plus Jakarta Sans"/>
              </a:rPr>
              <a:t>klasterisasi</a:t>
            </a:r>
            <a:r>
              <a:rPr sz="2000" b="0" i="0" u="none" dirty="0">
                <a:solidFill>
                  <a:srgbClr val="94A3B8"/>
                </a:solidFill>
                <a:latin typeface="Plus Jakarta Sans"/>
              </a:rPr>
              <a:t> wilayah, dan </a:t>
            </a:r>
            <a:r>
              <a:rPr sz="2000" b="0" i="0" u="none" dirty="0" err="1">
                <a:solidFill>
                  <a:srgbClr val="94A3B8"/>
                </a:solidFill>
                <a:latin typeface="Plus Jakarta Sans"/>
              </a:rPr>
              <a:t>rekomendasi</a:t>
            </a:r>
            <a:r>
              <a:rPr sz="2000" b="0" i="0" u="none" dirty="0">
                <a:solidFill>
                  <a:srgbClr val="94A3B8"/>
                </a:solidFill>
                <a:latin typeface="Plus Jakarta Sans"/>
              </a:rPr>
              <a:t> </a:t>
            </a:r>
            <a:r>
              <a:rPr sz="2000" b="0" i="0" u="none" dirty="0" err="1">
                <a:solidFill>
                  <a:srgbClr val="94A3B8"/>
                </a:solidFill>
                <a:latin typeface="Plus Jakarta Sans"/>
              </a:rPr>
              <a:t>ekspansi</a:t>
            </a:r>
            <a:r>
              <a:rPr sz="2000" b="0" i="0" u="none" dirty="0">
                <a:solidFill>
                  <a:srgbClr val="94A3B8"/>
                </a:solidFill>
                <a:latin typeface="Plus Jakarta Sans"/>
              </a:rPr>
              <a:t> </a:t>
            </a:r>
            <a:r>
              <a:rPr sz="2000" b="0" i="0" u="none" dirty="0" err="1">
                <a:solidFill>
                  <a:srgbClr val="94A3B8"/>
                </a:solidFill>
                <a:latin typeface="Plus Jakarta Sans"/>
              </a:rPr>
              <a:t>berbasis</a:t>
            </a:r>
            <a:r>
              <a:rPr sz="2000" b="0" i="0" u="none" dirty="0">
                <a:solidFill>
                  <a:srgbClr val="94A3B8"/>
                </a:solidFill>
                <a:latin typeface="Plus Jakarta Sans"/>
              </a:rPr>
              <a:t> data </a:t>
            </a:r>
            <a:r>
              <a:rPr sz="2000" b="0" i="0" u="none" dirty="0" err="1">
                <a:solidFill>
                  <a:srgbClr val="94A3B8"/>
                </a:solidFill>
                <a:latin typeface="Plus Jakarta Sans"/>
              </a:rPr>
              <a:t>direktori</a:t>
            </a:r>
            <a:r>
              <a:rPr sz="2000" b="0" i="0" u="none" dirty="0">
                <a:solidFill>
                  <a:srgbClr val="94A3B8"/>
                </a:solidFill>
                <a:latin typeface="Plus Jakarta Sans"/>
              </a:rPr>
              <a:t> </a:t>
            </a:r>
            <a:r>
              <a:rPr sz="2000" b="0" i="0" u="none" dirty="0" err="1">
                <a:solidFill>
                  <a:srgbClr val="94A3B8"/>
                </a:solidFill>
                <a:latin typeface="Plus Jakarta Sans"/>
              </a:rPr>
              <a:t>fasilitas</a:t>
            </a:r>
            <a:r>
              <a:rPr sz="2000" b="0" i="0" u="none" dirty="0">
                <a:solidFill>
                  <a:srgbClr val="94A3B8"/>
                </a:solidFill>
                <a:latin typeface="Plus Jakarta Sans"/>
              </a:rPr>
              <a:t> </a:t>
            </a:r>
            <a:r>
              <a:rPr sz="2000" b="0" i="0" u="none" dirty="0" err="1">
                <a:solidFill>
                  <a:srgbClr val="94A3B8"/>
                </a:solidFill>
                <a:latin typeface="Plus Jakarta Sans"/>
              </a:rPr>
              <a:t>kesehatan</a:t>
            </a:r>
            <a:r>
              <a:rPr sz="2000" b="0" i="0" u="none" dirty="0">
                <a:solidFill>
                  <a:srgbClr val="94A3B8"/>
                </a:solidFill>
                <a:latin typeface="Plus Jakarta Sans"/>
              </a:rPr>
              <a:t> 2019.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59185DB-9654-4309-56DB-BF7698EB2F96}"/>
              </a:ext>
            </a:extLst>
          </p:cNvPr>
          <p:cNvSpPr txBox="1"/>
          <p:nvPr/>
        </p:nvSpPr>
        <p:spPr>
          <a:xfrm>
            <a:off x="609598" y="4497947"/>
            <a:ext cx="8577943" cy="29495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250"/>
              </a:lnSpc>
            </a:pPr>
            <a:r>
              <a:rPr lang="en-US" sz="2000" b="0" i="0" u="none" dirty="0">
                <a:solidFill>
                  <a:srgbClr val="94A3B8"/>
                </a:solidFill>
                <a:latin typeface="Plus Jakarta Sans"/>
              </a:rPr>
              <a:t>Elisabeth Febri Astuti (Data Analis)</a:t>
            </a:r>
            <a:endParaRPr sz="2000" b="0" i="0" u="none" dirty="0">
              <a:solidFill>
                <a:srgbClr val="94A3B8"/>
              </a:solidFill>
              <a:latin typeface="Plus Jakarta Sans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09600" y="2835473"/>
            <a:ext cx="3505200" cy="2152650"/>
          </a:xfrm>
          <a:prstGeom prst="roundRect">
            <a:avLst>
              <a:gd name="adj" fmla="val 5309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4343400" y="2721173"/>
            <a:ext cx="3505200" cy="2381250"/>
          </a:xfrm>
          <a:prstGeom prst="roundRect">
            <a:avLst>
              <a:gd name="adj" fmla="val 4800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8077200" y="2835473"/>
            <a:ext cx="3505200" cy="2152650"/>
          </a:xfrm>
          <a:prstGeom prst="roundRect">
            <a:avLst>
              <a:gd name="adj" fmla="val 5309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3925" y="3197423"/>
            <a:ext cx="238125" cy="266700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57725" y="3083123"/>
            <a:ext cx="304800" cy="266700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91525" y="3197423"/>
            <a:ext cx="304800" cy="26670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09600" y="457200"/>
            <a:ext cx="11582400" cy="36567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2879"/>
              </a:lnSpc>
            </a:pPr>
            <a:r>
              <a:rPr sz="2400" b="1" i="0" u="none">
                <a:solidFill>
                  <a:srgbClr val="0F172A"/>
                </a:solidFill>
                <a:latin typeface="Plus Jakarta Sans"/>
              </a:rPr>
              <a:t>Pemahaman Struktur Data &amp; Karakteristik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09600" y="899070"/>
            <a:ext cx="11582400" cy="2190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0" i="0" u="none">
                <a:solidFill>
                  <a:srgbClr val="64748B"/>
                </a:solidFill>
                <a:latin typeface="Plus Jakarta Sans"/>
              </a:rPr>
              <a:t>Dataset direktori 29.157 entri fasilitas kesehatan seluruh Indonesia.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23925" y="3635573"/>
            <a:ext cx="3775471" cy="2381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500" b="1" i="0" u="none">
                <a:solidFill>
                  <a:srgbClr val="0F172A"/>
                </a:solidFill>
                <a:latin typeface="Plus Jakarta Sans"/>
              </a:rPr>
              <a:t>Atribut Spasial &amp; Direktori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23925" y="3987998"/>
            <a:ext cx="2971800" cy="685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200" b="0" i="0" u="none">
                <a:solidFill>
                  <a:srgbClr val="475569"/>
                </a:solidFill>
                <a:latin typeface="Plus Jakarta Sans"/>
              </a:rPr>
              <a:t>Berisi informasi wilayah, tipe faskes, alamat, nomor telepon, serta tautan koordinat geolokasi.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57725" y="3521273"/>
            <a:ext cx="3775471" cy="2381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500" b="1" i="0" u="none">
                <a:solidFill>
                  <a:srgbClr val="0F172A"/>
                </a:solidFill>
                <a:latin typeface="Plus Jakarta Sans"/>
              </a:rPr>
              <a:t>Transformasi URL Maps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57725" y="3873698"/>
            <a:ext cx="297180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200" b="0" i="0" u="none">
                <a:solidFill>
                  <a:srgbClr val="475569"/>
                </a:solidFill>
                <a:latin typeface="Plus Jakarta Sans"/>
              </a:rPr>
              <a:t>Kolom koordinat berupa URL Google Maps diekstrak secara otomatis menjadi nilai numerik Latitude &amp; Longitude.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391525" y="3635573"/>
            <a:ext cx="3775471" cy="2381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500" b="1" i="0" u="none">
                <a:solidFill>
                  <a:srgbClr val="0F172A"/>
                </a:solidFill>
                <a:latin typeface="Plus Jakarta Sans"/>
              </a:rPr>
              <a:t>Pembersihan Outlier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391525" y="3987998"/>
            <a:ext cx="2971800" cy="685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200" b="0" i="0" u="none">
                <a:solidFill>
                  <a:srgbClr val="475569"/>
                </a:solidFill>
                <a:latin typeface="Plus Jakarta Sans"/>
              </a:rPr>
              <a:t>Penyaringan data membatasi koordinat sah di wilayah geografis Indonesia menghasilkan 23.641 faskes valid.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09600" y="2949773"/>
            <a:ext cx="5372100" cy="1924050"/>
          </a:xfrm>
          <a:prstGeom prst="roundRect">
            <a:avLst>
              <a:gd name="adj" fmla="val 5940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6210300" y="2949773"/>
            <a:ext cx="5372100" cy="1924050"/>
          </a:xfrm>
          <a:prstGeom prst="roundRect">
            <a:avLst>
              <a:gd name="adj" fmla="val 5940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3925" y="3311723"/>
            <a:ext cx="304800" cy="266700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24625" y="3311723"/>
            <a:ext cx="333375" cy="2667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09600" y="457200"/>
            <a:ext cx="11582400" cy="36567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2879"/>
              </a:lnSpc>
            </a:pPr>
            <a:r>
              <a:rPr sz="2400" b="1" i="0" u="none">
                <a:solidFill>
                  <a:srgbClr val="0F172A"/>
                </a:solidFill>
                <a:latin typeface="Plus Jakarta Sans"/>
              </a:rPr>
              <a:t>Distribusi Faskes &amp; Konsentrasi Wilayah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09600" y="899070"/>
            <a:ext cx="11582400" cy="2190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0" i="0" u="none">
                <a:solidFill>
                  <a:srgbClr val="64748B"/>
                </a:solidFill>
                <a:latin typeface="Plus Jakarta Sans"/>
              </a:rPr>
              <a:t>Dominasi fasilitas kesehatan tingkat pertama serta pusat keramaian perkotaan.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23925" y="3749873"/>
            <a:ext cx="6225778" cy="2381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500" b="1" i="0" u="none">
                <a:solidFill>
                  <a:srgbClr val="0F172A"/>
                </a:solidFill>
                <a:latin typeface="Plus Jakarta Sans"/>
              </a:rPr>
              <a:t>Dominasi Faskes Tingkat 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23925" y="4102298"/>
            <a:ext cx="48387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200" b="0" i="0" u="none">
                <a:solidFill>
                  <a:srgbClr val="475569"/>
                </a:solidFill>
                <a:latin typeface="Plus Jakarta Sans"/>
              </a:rPr>
              <a:t>Puskesmas (9.913 unit) dan Klinik Pratama (6.553 unit) mendominasi proporsi layanan kesehatan dasar masyarakat.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24625" y="3749873"/>
            <a:ext cx="5667375" cy="2381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500" b="1" i="0" u="none">
                <a:solidFill>
                  <a:srgbClr val="0F172A"/>
                </a:solidFill>
                <a:latin typeface="Plus Jakarta Sans"/>
              </a:rPr>
              <a:t>Sentra Kota Metropolitan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24625" y="4102298"/>
            <a:ext cx="48387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200" b="0" i="0" u="none">
                <a:solidFill>
                  <a:srgbClr val="475569"/>
                </a:solidFill>
                <a:latin typeface="Plus Jakarta Sans"/>
              </a:rPr>
              <a:t>Kota Surabaya, Semarang, dan Bogor mencatat jumlah faskes tertinggi akibat konsentrasi penduduk yang padat.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09451" y="3287910"/>
            <a:ext cx="2042219" cy="1247775"/>
          </a:xfrm>
          <a:prstGeom prst="roundRect">
            <a:avLst>
              <a:gd name="adj" fmla="val 7633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2842170" y="3287910"/>
            <a:ext cx="2042219" cy="1247775"/>
          </a:xfrm>
          <a:prstGeom prst="roundRect">
            <a:avLst>
              <a:gd name="adj" fmla="val 7633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5074890" y="3287910"/>
            <a:ext cx="2042219" cy="1247775"/>
          </a:xfrm>
          <a:prstGeom prst="roundRect">
            <a:avLst>
              <a:gd name="adj" fmla="val 7633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7307609" y="3287910"/>
            <a:ext cx="2042219" cy="1247775"/>
          </a:xfrm>
          <a:prstGeom prst="roundRect">
            <a:avLst>
              <a:gd name="adj" fmla="val 7633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9540329" y="3287910"/>
            <a:ext cx="2042219" cy="1247775"/>
          </a:xfrm>
          <a:prstGeom prst="roundRect">
            <a:avLst>
              <a:gd name="adj" fmla="val 7633"/>
            </a:avLst>
          </a:prstGeom>
          <a:solidFill>
            <a:srgbClr val="FEF2F2"/>
          </a:solidFill>
          <a:ln w="9525">
            <a:solidFill>
              <a:srgbClr val="FECAC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09600" y="457200"/>
            <a:ext cx="11582400" cy="36567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2879"/>
              </a:lnSpc>
            </a:pPr>
            <a:r>
              <a:rPr sz="2400" b="1" i="0" u="none">
                <a:solidFill>
                  <a:srgbClr val="0F172A"/>
                </a:solidFill>
                <a:latin typeface="Plus Jakarta Sans"/>
              </a:rPr>
              <a:t>Klasterisasi Spasial K-Means (5 Zona Utama)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09600" y="899070"/>
            <a:ext cx="11582400" cy="2190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0" i="0" u="none">
                <a:solidFill>
                  <a:srgbClr val="64748B"/>
                </a:solidFill>
                <a:latin typeface="Plus Jakarta Sans"/>
              </a:rPr>
              <a:t>Pengelompokan geografis faskes untuk optimalisasi zonasi operasional nasional.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47576" y="3526035"/>
            <a:ext cx="2055335" cy="2000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00" b="1" i="0" u="none">
                <a:solidFill>
                  <a:srgbClr val="0369A1"/>
                </a:solidFill>
                <a:latin typeface="Plus Jakarta Sans"/>
              </a:rPr>
              <a:t>ZONA 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47576" y="3802260"/>
            <a:ext cx="1957461" cy="2667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650" b="1" i="0" u="none">
                <a:solidFill>
                  <a:srgbClr val="0F172A"/>
                </a:solidFill>
                <a:latin typeface="Plus Jakarta Sans"/>
              </a:rPr>
              <a:t>8.265 Faskes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47576" y="4126110"/>
            <a:ext cx="1957461" cy="1714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0" i="0" u="none">
                <a:solidFill>
                  <a:srgbClr val="64748B"/>
                </a:solidFill>
                <a:latin typeface="Plus Jakarta Sans"/>
              </a:rPr>
              <a:t>Pusat gravitasi tinggi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080295" y="3526035"/>
            <a:ext cx="2055335" cy="2000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00" b="1" i="0" u="none">
                <a:solidFill>
                  <a:srgbClr val="0369A1"/>
                </a:solidFill>
                <a:latin typeface="Plus Jakarta Sans"/>
              </a:rPr>
              <a:t>ZONA 4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080295" y="3802260"/>
            <a:ext cx="1957461" cy="2667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650" b="1" i="0" u="none">
                <a:solidFill>
                  <a:srgbClr val="0F172A"/>
                </a:solidFill>
                <a:latin typeface="Plus Jakarta Sans"/>
              </a:rPr>
              <a:t>6.753 Faskes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080295" y="4126110"/>
            <a:ext cx="1957461" cy="1714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0" i="0" u="none">
                <a:solidFill>
                  <a:srgbClr val="64748B"/>
                </a:solidFill>
                <a:latin typeface="Plus Jakarta Sans"/>
              </a:rPr>
              <a:t>Kepadatan sekunder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313015" y="3526035"/>
            <a:ext cx="2055335" cy="2000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00" b="1" i="0" u="none">
                <a:solidFill>
                  <a:srgbClr val="0369A1"/>
                </a:solidFill>
                <a:latin typeface="Plus Jakarta Sans"/>
              </a:rPr>
              <a:t>ZONA 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313015" y="3802260"/>
            <a:ext cx="1957461" cy="2667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650" b="1" i="0" u="none">
                <a:solidFill>
                  <a:srgbClr val="0F172A"/>
                </a:solidFill>
                <a:latin typeface="Plus Jakarta Sans"/>
              </a:rPr>
              <a:t>4.212 Faskes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313015" y="4126110"/>
            <a:ext cx="1957461" cy="1714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0" i="0" u="none">
                <a:solidFill>
                  <a:srgbClr val="64748B"/>
                </a:solidFill>
                <a:latin typeface="Plus Jakarta Sans"/>
              </a:rPr>
              <a:t>Wilayah penopang stabil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545734" y="3526035"/>
            <a:ext cx="2055335" cy="2000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00" b="1" i="0" u="none">
                <a:solidFill>
                  <a:srgbClr val="0369A1"/>
                </a:solidFill>
                <a:latin typeface="Plus Jakarta Sans"/>
              </a:rPr>
              <a:t>ZONA 1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545734" y="3802260"/>
            <a:ext cx="1957461" cy="2667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650" b="1" i="0" u="none">
                <a:solidFill>
                  <a:srgbClr val="0F172A"/>
                </a:solidFill>
                <a:latin typeface="Plus Jakarta Sans"/>
              </a:rPr>
              <a:t>3.637 Faskes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545734" y="4126110"/>
            <a:ext cx="1957461" cy="1714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0" i="0" u="none">
                <a:solidFill>
                  <a:srgbClr val="64748B"/>
                </a:solidFill>
                <a:latin typeface="Plus Jakarta Sans"/>
              </a:rPr>
              <a:t>Jaringan regional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778454" y="3526035"/>
            <a:ext cx="2055335" cy="2000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00" b="1" i="0" u="none">
                <a:solidFill>
                  <a:srgbClr val="DC2626"/>
                </a:solidFill>
                <a:latin typeface="Plus Jakarta Sans"/>
              </a:rPr>
              <a:t>ZONA 2 (POTENSI)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778454" y="3802260"/>
            <a:ext cx="1957461" cy="2667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650" b="1" i="0" u="none">
                <a:solidFill>
                  <a:srgbClr val="991B1B"/>
                </a:solidFill>
                <a:latin typeface="Plus Jakarta Sans"/>
              </a:rPr>
              <a:t>774 Faskes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778454" y="4126110"/>
            <a:ext cx="1957461" cy="1714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0" i="0" u="none">
                <a:solidFill>
                  <a:srgbClr val="B91C1C"/>
                </a:solidFill>
                <a:latin typeface="Plus Jakarta Sans"/>
              </a:rPr>
              <a:t>Blue Ocean Market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09600" y="2835473"/>
            <a:ext cx="3505200" cy="2152650"/>
          </a:xfrm>
          <a:prstGeom prst="roundRect">
            <a:avLst>
              <a:gd name="adj" fmla="val 5309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3" name="Rounded Rectangle 2"/>
          <p:cNvSpPr/>
          <p:nvPr/>
        </p:nvSpPr>
        <p:spPr>
          <a:xfrm>
            <a:off x="4343400" y="2835473"/>
            <a:ext cx="3505200" cy="2152650"/>
          </a:xfrm>
          <a:prstGeom prst="roundRect">
            <a:avLst>
              <a:gd name="adj" fmla="val 5309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4" name="Rounded Rectangle 3"/>
          <p:cNvSpPr/>
          <p:nvPr/>
        </p:nvSpPr>
        <p:spPr>
          <a:xfrm>
            <a:off x="8077200" y="2835473"/>
            <a:ext cx="3505200" cy="2152650"/>
          </a:xfrm>
          <a:prstGeom prst="roundRect">
            <a:avLst>
              <a:gd name="adj" fmla="val 5309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/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3925" y="3197423"/>
            <a:ext cx="266700" cy="266700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57725" y="3197423"/>
            <a:ext cx="333375" cy="266700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91525" y="3197423"/>
            <a:ext cx="238125" cy="26670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09600" y="457200"/>
            <a:ext cx="4643451" cy="346633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2879"/>
              </a:lnSpc>
            </a:pPr>
            <a:r>
              <a:rPr sz="2000" b="1" i="0" u="none">
                <a:solidFill>
                  <a:srgbClr val="0F172A"/>
                </a:solidFill>
                <a:latin typeface="Plus Jakarta Sans"/>
              </a:rPr>
              <a:t>Rekomendasi Strategis Keberlanjutan Bisnis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09600" y="899070"/>
            <a:ext cx="8416920" cy="307777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000" b="0" i="0" u="none">
                <a:solidFill>
                  <a:srgbClr val="64748B"/>
                </a:solidFill>
                <a:latin typeface="Plus Jakarta Sans"/>
              </a:rPr>
              <a:t>Penerapan wawasan analitik untuk optimalisasi rantai pasok dan penetrasi pasar.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23925" y="3635573"/>
            <a:ext cx="1986569" cy="307777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000" b="1" i="0" u="none">
                <a:solidFill>
                  <a:srgbClr val="0F172A"/>
                </a:solidFill>
                <a:latin typeface="Plus Jakarta Sans"/>
              </a:rPr>
              <a:t>Ekspansi ke Zona 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23925" y="3987998"/>
            <a:ext cx="2971800" cy="116416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2000" b="0" i="0" u="none">
                <a:solidFill>
                  <a:srgbClr val="475569"/>
                </a:solidFill>
                <a:latin typeface="Plus Jakarta Sans"/>
              </a:rPr>
              <a:t>Prioritaskan pembukaan klinik baru atau distribusi alkes ke Zona 2 karena tingkat kompetisi yang rendah (underserved).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57725" y="3635573"/>
            <a:ext cx="2218428" cy="307777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000" b="1" i="0" u="none">
                <a:solidFill>
                  <a:srgbClr val="0F172A"/>
                </a:solidFill>
                <a:latin typeface="Plus Jakarta Sans"/>
              </a:rPr>
              <a:t>Efisiensi Logistik Hub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57725" y="3987998"/>
            <a:ext cx="2971800" cy="116416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2000" b="0" i="0" u="none">
                <a:solidFill>
                  <a:srgbClr val="475569"/>
                </a:solidFill>
                <a:latin typeface="Plus Jakarta Sans"/>
              </a:rPr>
              <a:t>Gunakan titik koordinat Centroid klaster sebagai pusat gudang dan rute sales untuk meminimalkan ongkos kirim.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391525" y="3635573"/>
            <a:ext cx="2747162" cy="307777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000" b="1" i="0" u="none">
                <a:solidFill>
                  <a:srgbClr val="0F172A"/>
                </a:solidFill>
                <a:latin typeface="Plus Jakarta Sans"/>
              </a:rPr>
              <a:t>Diferensiasi di Zona Padat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391525" y="3987998"/>
            <a:ext cx="2971800" cy="9333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2000" b="0" i="0" u="none">
                <a:solidFill>
                  <a:srgbClr val="475569"/>
                </a:solidFill>
                <a:latin typeface="Plus Jakarta Sans"/>
              </a:rPr>
              <a:t>Hindari ekspansi fisik masif di Zona 0 &amp; 4; fokuskan pada peningkatan mutu layanan dan produk spesifik.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4433292" y="2796480"/>
            <a:ext cx="3325415" cy="50289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ts val="3959"/>
              </a:lnSpc>
            </a:pPr>
            <a:r>
              <a:rPr sz="3300" b="1" i="0" u="none">
                <a:solidFill>
                  <a:srgbClr val="FFFFFF"/>
                </a:solidFill>
                <a:latin typeface="Plus Jakarta Sans"/>
              </a:rPr>
              <a:t>Terima Kasih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18</TotalTime>
  <Words>298</Words>
  <Application>Microsoft Office PowerPoint</Application>
  <PresentationFormat>Widescreen</PresentationFormat>
  <Paragraphs>44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1" baseType="lpstr">
      <vt:lpstr>JetBrains Mono</vt:lpstr>
      <vt:lpstr>Plus Jakarta Sans</vt:lpstr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THINKPAD</cp:lastModifiedBy>
  <cp:revision>2</cp:revision>
  <dcterms:created xsi:type="dcterms:W3CDTF">2013-01-27T09:14:16Z</dcterms:created>
  <dcterms:modified xsi:type="dcterms:W3CDTF">2026-10-21T05:14:19Z</dcterms:modified>
  <cp:category/>
</cp:coreProperties>
</file>